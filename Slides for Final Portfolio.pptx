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0D2B4A"/>
          </a:solidFill>
          <a:ln cap="flat" cmpd="sng" w="12700">
            <a:solidFill>
              <a:srgbClr val="0D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212080" y="22860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212080" y="57607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212080" y="92354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212080" y="127101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212080" y="161848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212080" y="196596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212080" y="231343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212080" y="266090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212080" y="300837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212080" y="335584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5212080" y="370332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5212080" y="405079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212080" y="439826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5212080" y="474573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5559552" y="22860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559552" y="57607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559552" y="92354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5559552" y="127101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5559552" y="161848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5559552" y="196596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5559552" y="231343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5559552" y="266090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5559552" y="300837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5559552" y="335584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5559552" y="370332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5559552" y="405079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5559552" y="439826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5559552" y="474573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5907024" y="22860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5907024" y="57607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5907024" y="92354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907024" y="127101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5907024" y="161848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5907024" y="196596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5907024" y="231343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5907024" y="266090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5907024" y="300837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5907024" y="335584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907024" y="370332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5907024" y="405079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907024" y="439826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5907024" y="474573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254496" y="22860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254496" y="57607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254496" y="92354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254496" y="127101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254496" y="161848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254496" y="196596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254496" y="231343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254496" y="266090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254496" y="300837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254496" y="335584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254496" y="370332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254496" y="405079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254496" y="439826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254496" y="474573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601968" y="22860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601968" y="57607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601968" y="92354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601968" y="127101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601968" y="161848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601968" y="196596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601968" y="231343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601968" y="266090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601968" y="300837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601968" y="335584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601968" y="370332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601968" y="405079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601968" y="439826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601968" y="474573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949440" y="22860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949440" y="57607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949440" y="92354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6949440" y="127101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6949440" y="161848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949440" y="196596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6949440" y="231343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949440" y="266090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6949440" y="300837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6949440" y="335584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6949440" y="370332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6949440" y="405079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949440" y="439826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949440" y="474573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7296912" y="22860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7296912" y="57607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7296912" y="92354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7296912" y="127101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7296912" y="161848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7296912" y="196596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7296912" y="231343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7296912" y="266090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7296912" y="300837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7296912" y="335584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7296912" y="370332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7296912" y="405079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7296912" y="439826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7296912" y="474573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7644384" y="22860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7644384" y="57607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7644384" y="92354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7644384" y="127101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7644384" y="161848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7644384" y="196596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7644384" y="231343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7644384" y="266090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7644384" y="300837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7644384" y="335584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7644384" y="370332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7644384" y="405079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7644384" y="439826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7644384" y="474573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7991856" y="22860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7991856" y="57607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7991856" y="92354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7991856" y="127101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7991856" y="161848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7991856" y="196596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7991856" y="231343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7991856" y="266090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7991856" y="300837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7991856" y="335584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7991856" y="370332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7991856" y="405079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7991856" y="439826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7991856" y="474573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8339328" y="22860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8339328" y="57607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8339328" y="92354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8339328" y="127101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8339328" y="161848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8339328" y="196596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8339328" y="231343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8339328" y="266090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8339328" y="300837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8339328" y="335584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8339328" y="370332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8339328" y="405079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8339328" y="439826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8339328" y="474573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8686800" y="22860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8686800" y="57607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8686800" y="92354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8686800" y="127101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8686800" y="161848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8686800" y="196596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8686800" y="231343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8686800" y="266090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8686800" y="300837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8686800" y="335584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8686800" y="370332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8686800" y="405079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8686800" y="439826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8686800" y="474573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9034272" y="22860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9034272" y="57607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9034272" y="92354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9034272" y="127101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9034272" y="161848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9034272" y="196596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9034272" y="231343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9034272" y="266090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9034272" y="300837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9034272" y="3355848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9034272" y="3703320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9034272" y="4050792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9034272" y="4398264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"/>
          <p:cNvSpPr/>
          <p:nvPr/>
        </p:nvSpPr>
        <p:spPr>
          <a:xfrm>
            <a:off x="9034272" y="4745736"/>
            <a:ext cx="36576" cy="36576"/>
          </a:xfrm>
          <a:prstGeom prst="ellipse">
            <a:avLst/>
          </a:prstGeom>
          <a:solidFill>
            <a:srgbClr val="0D7680">
              <a:alpha val="45098"/>
            </a:srgbClr>
          </a:solidFill>
          <a:ln cap="flat" cmpd="sng" w="12700">
            <a:solidFill>
              <a:srgbClr val="0D768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201168" y="64008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DeepGuard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201168" y="1600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8ECAE6"/>
                </a:solidFill>
                <a:latin typeface="Calibri"/>
                <a:ea typeface="Calibri"/>
                <a:cs typeface="Calibri"/>
                <a:sym typeface="Calibri"/>
              </a:rPr>
              <a:t>Spacecraft AI Safety Monitor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201168" y="20116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Detecting Problems Before They Become Disasters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201168" y="2542032"/>
            <a:ext cx="2011680" cy="32004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201168" y="2633472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Robert B Thompson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ITAI 2372  |  AI Applications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Houston Community College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May 5,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5120640" y="384048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5166360" y="850392"/>
            <a:ext cx="146304" cy="146304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5413248" y="81381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signal to Mars takes up to 24 minutes one way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5166360" y="1545336"/>
            <a:ext cx="146304" cy="146304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5413248" y="150876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The crew cannot wait 48 minutes for ground control to respond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5166360" y="2240280"/>
            <a:ext cx="146304" cy="146304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"/>
          <p:cNvSpPr/>
          <p:nvPr/>
        </p:nvSpPr>
        <p:spPr>
          <a:xfrm>
            <a:off x="5413248" y="2203704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Current fixed-rule systems miss slow, developing problems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5166360" y="2935224"/>
            <a:ext cx="146304" cy="146304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5413248" y="289864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AI can watch every sensor and act in under 2 seconds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0" y="4864608"/>
            <a:ext cx="9144000" cy="1463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292608" y="48966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DeepGuard  |  ITAI 2372  |  Robert B Thompson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8138160" y="4896612"/>
            <a:ext cx="713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0" y="576072"/>
            <a:ext cx="9144000" cy="20117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"/>
          <p:cNvSpPr/>
          <p:nvPr/>
        </p:nvSpPr>
        <p:spPr>
          <a:xfrm>
            <a:off x="292608" y="73152"/>
            <a:ext cx="8503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 with Spacecraft Fault Protection Today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292608" y="749808"/>
            <a:ext cx="2697480" cy="37033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292608" y="749808"/>
            <a:ext cx="2697480" cy="64008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978408" y="932688"/>
            <a:ext cx="1325880" cy="731520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978408" y="932688"/>
            <a:ext cx="1325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48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384048" y="1792224"/>
            <a:ext cx="2514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No Time to React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749808" y="2286000"/>
            <a:ext cx="1783080" cy="18288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"/>
          <p:cNvSpPr/>
          <p:nvPr/>
        </p:nvSpPr>
        <p:spPr>
          <a:xfrm>
            <a:off x="402336" y="2377440"/>
            <a:ext cx="24688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signal to Mars and back takes 48 minutes. By the time ground control issues a command, a small problem has already become a serious 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3145536" y="749808"/>
            <a:ext cx="2697480" cy="37033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"/>
          <p:cNvSpPr/>
          <p:nvPr/>
        </p:nvSpPr>
        <p:spPr>
          <a:xfrm>
            <a:off x="3145536" y="749808"/>
            <a:ext cx="2697480" cy="64008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"/>
          <p:cNvSpPr/>
          <p:nvPr/>
        </p:nvSpPr>
        <p:spPr>
          <a:xfrm>
            <a:off x="3831336" y="932688"/>
            <a:ext cx="1325880" cy="731520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"/>
          <p:cNvSpPr/>
          <p:nvPr/>
        </p:nvSpPr>
        <p:spPr>
          <a:xfrm>
            <a:off x="3831336" y="932688"/>
            <a:ext cx="1325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Static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Rules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3236976" y="1792224"/>
            <a:ext cx="2514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Fixed Systems Miss Slow Failures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3602736" y="2286000"/>
            <a:ext cx="1783080" cy="18288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3255264" y="2377440"/>
            <a:ext cx="24688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Current fault systems work like a smoke alarm with a fixed setting. A temperature that rises slowly over 48 hours never trips the alarm until it is too late.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5998464" y="749808"/>
            <a:ext cx="2697480" cy="37033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"/>
          <p:cNvSpPr/>
          <p:nvPr/>
        </p:nvSpPr>
        <p:spPr>
          <a:xfrm>
            <a:off x="5998464" y="749808"/>
            <a:ext cx="2697480" cy="64008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"/>
          <p:cNvSpPr/>
          <p:nvPr/>
        </p:nvSpPr>
        <p:spPr>
          <a:xfrm>
            <a:off x="6684264" y="932688"/>
            <a:ext cx="1325880" cy="731520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"/>
          <p:cNvSpPr/>
          <p:nvPr/>
        </p:nvSpPr>
        <p:spPr>
          <a:xfrm>
            <a:off x="6684264" y="932688"/>
            <a:ext cx="1325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Sensor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Drift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6089904" y="1792224"/>
            <a:ext cx="2514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Sensors Change Over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6455664" y="2286000"/>
            <a:ext cx="1783080" cy="18288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"/>
          <p:cNvSpPr/>
          <p:nvPr/>
        </p:nvSpPr>
        <p:spPr>
          <a:xfrm>
            <a:off x="6108192" y="2377440"/>
            <a:ext cx="24688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a 3-year Mars mission, sensors drift from their original readings. Fixed alert limits that worked at launch start producing constant false alarms by year two.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"/>
          <p:cNvSpPr/>
          <p:nvPr/>
        </p:nvSpPr>
        <p:spPr>
          <a:xfrm>
            <a:off x="0" y="4864608"/>
            <a:ext cx="9144000" cy="1463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"/>
          <p:cNvSpPr/>
          <p:nvPr/>
        </p:nvSpPr>
        <p:spPr>
          <a:xfrm>
            <a:off x="292608" y="48966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DeepGuard  |  ITAI 2372  |  Robert B Thompson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8138160" y="4896612"/>
            <a:ext cx="713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0" y="576072"/>
            <a:ext cx="9144000" cy="20117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292608" y="73152"/>
            <a:ext cx="8503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DeepGuard: How It Works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292608" y="768096"/>
            <a:ext cx="2011680" cy="19202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292608" y="877824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Watcher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457200" y="1536192"/>
            <a:ext cx="1682496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365760" y="1591056"/>
            <a:ext cx="186537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F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F4F5"/>
                </a:solidFill>
                <a:latin typeface="Calibri"/>
                <a:ea typeface="Calibri"/>
                <a:cs typeface="Calibri"/>
                <a:sym typeface="Calibri"/>
              </a:rPr>
              <a:t>Reads all sensors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F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F4F5"/>
                </a:solidFill>
                <a:latin typeface="Calibri"/>
                <a:ea typeface="Calibri"/>
                <a:cs typeface="Calibri"/>
                <a:sym typeface="Calibri"/>
              </a:rPr>
              <a:t>10 times per second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F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F4F5"/>
                </a:solidFill>
                <a:latin typeface="Calibri"/>
                <a:ea typeface="Calibri"/>
                <a:cs typeface="Calibri"/>
                <a:sym typeface="Calibri"/>
              </a:rPr>
              <a:t>Flags unusual readings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2304288" y="1691640"/>
            <a:ext cx="173736" cy="32004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2304288" y="1572768"/>
            <a:ext cx="173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2478024" y="768096"/>
            <a:ext cx="2011680" cy="1920240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2478024" y="877824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2642616" y="1536192"/>
            <a:ext cx="1682496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2551176" y="1591056"/>
            <a:ext cx="186537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F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F4F5"/>
                </a:solidFill>
                <a:latin typeface="Calibri"/>
                <a:ea typeface="Calibri"/>
                <a:cs typeface="Calibri"/>
                <a:sym typeface="Calibri"/>
              </a:rPr>
              <a:t>Predicts where each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F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F4F5"/>
                </a:solidFill>
                <a:latin typeface="Calibri"/>
                <a:ea typeface="Calibri"/>
                <a:cs typeface="Calibri"/>
                <a:sym typeface="Calibri"/>
              </a:rPr>
              <a:t>sensor is heading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F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F4F5"/>
                </a:solidFill>
                <a:latin typeface="Calibri"/>
                <a:ea typeface="Calibri"/>
                <a:cs typeface="Calibri"/>
                <a:sym typeface="Calibri"/>
              </a:rPr>
              <a:t>for the next 15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4489704" y="1691640"/>
            <a:ext cx="173736" cy="32004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4489704" y="1572768"/>
            <a:ext cx="173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4663440" y="768096"/>
            <a:ext cx="2011680" cy="1920240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4663440" y="877824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4828032" y="1536192"/>
            <a:ext cx="1682496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4736592" y="1591056"/>
            <a:ext cx="186537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F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F4F5"/>
                </a:solidFill>
                <a:latin typeface="Calibri"/>
                <a:ea typeface="Calibri"/>
                <a:cs typeface="Calibri"/>
                <a:sym typeface="Calibri"/>
              </a:rPr>
              <a:t>Decides how serious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F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F4F5"/>
                </a:solidFill>
                <a:latin typeface="Calibri"/>
                <a:ea typeface="Calibri"/>
                <a:cs typeface="Calibri"/>
                <a:sym typeface="Calibri"/>
              </a:rPr>
              <a:t>the situation 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F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F4F5"/>
                </a:solidFill>
                <a:latin typeface="Calibri"/>
                <a:ea typeface="Calibri"/>
                <a:cs typeface="Calibri"/>
                <a:sym typeface="Calibri"/>
              </a:rPr>
              <a:t>(Watch to Emergency)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6675120" y="1691640"/>
            <a:ext cx="173736" cy="32004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6675120" y="1572768"/>
            <a:ext cx="173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6848856" y="768096"/>
            <a:ext cx="2011680" cy="192024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6848856" y="877824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7013448" y="1536192"/>
            <a:ext cx="1682496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6922008" y="1591056"/>
            <a:ext cx="186537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F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F4F5"/>
                </a:solidFill>
                <a:latin typeface="Calibri"/>
                <a:ea typeface="Calibri"/>
                <a:cs typeface="Calibri"/>
                <a:sym typeface="Calibri"/>
              </a:rPr>
              <a:t>Runs the approved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F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F4F5"/>
                </a:solidFill>
                <a:latin typeface="Calibri"/>
                <a:ea typeface="Calibri"/>
                <a:cs typeface="Calibri"/>
                <a:sym typeface="Calibri"/>
              </a:rPr>
              <a:t>fix and logs every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F4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F4F5"/>
                </a:solidFill>
                <a:latin typeface="Calibri"/>
                <a:ea typeface="Calibri"/>
                <a:cs typeface="Calibri"/>
                <a:sym typeface="Calibri"/>
              </a:rPr>
              <a:t>decision made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292608" y="2880360"/>
            <a:ext cx="8558784" cy="36576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292608" y="2999232"/>
            <a:ext cx="2697480" cy="17830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"/>
          <p:cNvSpPr/>
          <p:nvPr/>
        </p:nvSpPr>
        <p:spPr>
          <a:xfrm>
            <a:off x="292608" y="2999232"/>
            <a:ext cx="45720" cy="1783080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5"/>
          <p:cNvSpPr/>
          <p:nvPr/>
        </p:nvSpPr>
        <p:spPr>
          <a:xfrm>
            <a:off x="420624" y="30815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Learns Over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420624" y="3456432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Re-checks its idea of normal every 30 days to account for sensor aging during the mission.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3145536" y="2999232"/>
            <a:ext cx="2697480" cy="17830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"/>
          <p:cNvSpPr/>
          <p:nvPr/>
        </p:nvSpPr>
        <p:spPr>
          <a:xfrm>
            <a:off x="3145536" y="2999232"/>
            <a:ext cx="45720" cy="1783080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5"/>
          <p:cNvSpPr/>
          <p:nvPr/>
        </p:nvSpPr>
        <p:spPr>
          <a:xfrm>
            <a:off x="3273552" y="30815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Fully Auditable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3273552" y="3456432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automated decision is recorded: what triggered it, how confident the system was, and what action was taken.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5998464" y="2999232"/>
            <a:ext cx="2697480" cy="17830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5"/>
          <p:cNvSpPr/>
          <p:nvPr/>
        </p:nvSpPr>
        <p:spPr>
          <a:xfrm>
            <a:off x="5998464" y="2999232"/>
            <a:ext cx="45720" cy="1783080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"/>
          <p:cNvSpPr/>
          <p:nvPr/>
        </p:nvSpPr>
        <p:spPr>
          <a:xfrm>
            <a:off x="6126480" y="30815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Always Safe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6126480" y="3456432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crew can override any decision at any time. No irreversible action is taken without crew confirmation.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5"/>
          <p:cNvSpPr/>
          <p:nvPr/>
        </p:nvSpPr>
        <p:spPr>
          <a:xfrm>
            <a:off x="0" y="4864608"/>
            <a:ext cx="9144000" cy="1463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"/>
          <p:cNvSpPr/>
          <p:nvPr/>
        </p:nvSpPr>
        <p:spPr>
          <a:xfrm>
            <a:off x="292608" y="48966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DeepGuard  |  ITAI 2372  |  Robert B Thompson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8138160" y="4896612"/>
            <a:ext cx="713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"/>
          <p:cNvSpPr/>
          <p:nvPr/>
        </p:nvSpPr>
        <p:spPr>
          <a:xfrm>
            <a:off x="0" y="576072"/>
            <a:ext cx="9144000" cy="20117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6"/>
          <p:cNvSpPr/>
          <p:nvPr/>
        </p:nvSpPr>
        <p:spPr>
          <a:xfrm>
            <a:off x="292608" y="73152"/>
            <a:ext cx="8503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 1: The Sensor Watcher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292608" y="73152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What It Does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292608" y="1078992"/>
            <a:ext cx="40690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Sensor Watcher reads every spacecraft sensor 10 times per second and asks one question: does this reading fit the normal pattern?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Normal readings cluster together like a flock of birds. Unusual readings sit apart from that flock. The tool isolates outliers by randomly slicing the data. Unusual readings get isolated very quickly. Normal readings take many cuts. A reading isolated fast gets a high suspicion score.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292608" y="3063240"/>
            <a:ext cx="45720" cy="256032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438912" y="3035808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Works without needing prior examples of failures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292608" y="3456432"/>
            <a:ext cx="45720" cy="256032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"/>
          <p:cNvSpPr/>
          <p:nvPr/>
        </p:nvSpPr>
        <p:spPr>
          <a:xfrm>
            <a:off x="438912" y="3429000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Catches brand-new failure types it has never seen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292608" y="3849624"/>
            <a:ext cx="45720" cy="256032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"/>
          <p:cNvSpPr/>
          <p:nvPr/>
        </p:nvSpPr>
        <p:spPr>
          <a:xfrm>
            <a:off x="438912" y="3822192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Responds in under 5 milliseconds per reading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292608" y="4242816"/>
            <a:ext cx="45720" cy="256032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"/>
          <p:cNvSpPr/>
          <p:nvPr/>
        </p:nvSpPr>
        <p:spPr>
          <a:xfrm>
            <a:off x="438912" y="4215384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Re-learns the normal pattern every 30 mission days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4663440" y="713232"/>
            <a:ext cx="4187952" cy="3749040"/>
          </a:xfrm>
          <a:prstGeom prst="rect">
            <a:avLst/>
          </a:prstGeom>
          <a:solidFill>
            <a:srgbClr val="E4F4F5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4800600" y="8229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Settings and What They Mean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4828032" y="1261872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Number of independent checks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4828032" y="1463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200  —  reduces chance of a wrong 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4828032" y="1673352"/>
            <a:ext cx="3749040" cy="9144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"/>
          <p:cNvSpPr/>
          <p:nvPr/>
        </p:nvSpPr>
        <p:spPr>
          <a:xfrm>
            <a:off x="4828032" y="17007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Expected fault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4828032" y="1901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1%  —  from NASA historical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4828032" y="2112264"/>
            <a:ext cx="3749040" cy="9144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"/>
          <p:cNvSpPr/>
          <p:nvPr/>
        </p:nvSpPr>
        <p:spPr>
          <a:xfrm>
            <a:off x="4828032" y="2139696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Alert trigger point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4828032" y="234086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Suspicion score falls below -0.15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4828032" y="2551176"/>
            <a:ext cx="3749040" cy="9144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"/>
          <p:cNvSpPr/>
          <p:nvPr/>
        </p:nvSpPr>
        <p:spPr>
          <a:xfrm>
            <a:off x="4828032" y="257860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What it checks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4828032" y="277977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sensors at the same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4828032" y="2990088"/>
            <a:ext cx="3749040" cy="9144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4828032" y="30175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How often it re-learns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4828032" y="321868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30 mission days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4828032" y="3429000"/>
            <a:ext cx="3749040" cy="9144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6"/>
          <p:cNvSpPr/>
          <p:nvPr/>
        </p:nvSpPr>
        <p:spPr>
          <a:xfrm>
            <a:off x="4828032" y="3456432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Target: problems caught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4828032" y="365760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More than 87 out of 100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4828032" y="3867912"/>
            <a:ext cx="3749040" cy="9144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"/>
          <p:cNvSpPr/>
          <p:nvPr/>
        </p:nvSpPr>
        <p:spPr>
          <a:xfrm>
            <a:off x="4828032" y="389534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Target: false alarms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4828032" y="409651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Fewer than 5 out of 100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6"/>
          <p:cNvSpPr/>
          <p:nvPr/>
        </p:nvSpPr>
        <p:spPr>
          <a:xfrm>
            <a:off x="0" y="4864608"/>
            <a:ext cx="9144000" cy="1463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6"/>
          <p:cNvSpPr/>
          <p:nvPr/>
        </p:nvSpPr>
        <p:spPr>
          <a:xfrm>
            <a:off x="292608" y="48966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DeepGuard  |  ITAI 2372  |  Robert B Thompson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8138160" y="4896612"/>
            <a:ext cx="713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7"/>
          <p:cNvSpPr/>
          <p:nvPr/>
        </p:nvSpPr>
        <p:spPr>
          <a:xfrm>
            <a:off x="0" y="576072"/>
            <a:ext cx="9144000" cy="20117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7"/>
          <p:cNvSpPr/>
          <p:nvPr/>
        </p:nvSpPr>
        <p:spPr>
          <a:xfrm>
            <a:off x="292608" y="73152"/>
            <a:ext cx="8503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 2: The Trend Forecaster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292608" y="713232"/>
            <a:ext cx="855878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reading that looks fine right now can still be heading toward danger. The Trend Forecaster reads the last 8 minutes of sensor history and predicts where each reading will be 15 minutes from now. The system acts early instead of waiting for a sensor to cross the danger 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164592" y="1481328"/>
            <a:ext cx="1572768" cy="141732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7"/>
          <p:cNvSpPr/>
          <p:nvPr/>
        </p:nvSpPr>
        <p:spPr>
          <a:xfrm>
            <a:off x="164592" y="1572768"/>
            <a:ext cx="15727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Minutes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History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292608" y="2103120"/>
            <a:ext cx="1316736" cy="18288"/>
          </a:xfrm>
          <a:prstGeom prst="rect">
            <a:avLst/>
          </a:prstGeom>
          <a:solidFill>
            <a:srgbClr val="FFFFFF">
              <a:alpha val="34901"/>
            </a:srgbClr>
          </a:solidFill>
          <a:ln cap="flat" cmpd="sng" w="12700">
            <a:solidFill>
              <a:srgbClr val="FFF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7"/>
          <p:cNvSpPr/>
          <p:nvPr/>
        </p:nvSpPr>
        <p:spPr>
          <a:xfrm>
            <a:off x="210312" y="2157984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48 sensor snapshots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fed into the tool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1737360" y="2011680"/>
            <a:ext cx="2011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1938528" y="1481328"/>
            <a:ext cx="1572768" cy="1417320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7"/>
          <p:cNvSpPr/>
          <p:nvPr/>
        </p:nvSpPr>
        <p:spPr>
          <a:xfrm>
            <a:off x="1938528" y="1572768"/>
            <a:ext cx="15727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Recognition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2066544" y="2103120"/>
            <a:ext cx="1316736" cy="18288"/>
          </a:xfrm>
          <a:prstGeom prst="rect">
            <a:avLst/>
          </a:prstGeom>
          <a:solidFill>
            <a:srgbClr val="FFFFFF">
              <a:alpha val="34901"/>
            </a:srgbClr>
          </a:solidFill>
          <a:ln cap="flat" cmpd="sng" w="12700">
            <a:solidFill>
              <a:srgbClr val="FFF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7"/>
          <p:cNvSpPr/>
          <p:nvPr/>
        </p:nvSpPr>
        <p:spPr>
          <a:xfrm>
            <a:off x="1984248" y="2157984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Layer 1 finds broad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trends in the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3511296" y="2011680"/>
            <a:ext cx="2011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3712464" y="1481328"/>
            <a:ext cx="1572768" cy="1417320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7"/>
          <p:cNvSpPr/>
          <p:nvPr/>
        </p:nvSpPr>
        <p:spPr>
          <a:xfrm>
            <a:off x="3712464" y="1572768"/>
            <a:ext cx="15727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Refinement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3840480" y="2103120"/>
            <a:ext cx="1316736" cy="18288"/>
          </a:xfrm>
          <a:prstGeom prst="rect">
            <a:avLst/>
          </a:prstGeom>
          <a:solidFill>
            <a:srgbClr val="FFFFFF">
              <a:alpha val="34901"/>
            </a:srgbClr>
          </a:solidFill>
          <a:ln cap="flat" cmpd="sng" w="12700">
            <a:solidFill>
              <a:srgbClr val="FFF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>
            <a:off x="3758184" y="2157984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Layer 2 sharpens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the prediction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5285232" y="2011680"/>
            <a:ext cx="2011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5486400" y="1481328"/>
            <a:ext cx="1572768" cy="141732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7"/>
          <p:cNvSpPr/>
          <p:nvPr/>
        </p:nvSpPr>
        <p:spPr>
          <a:xfrm>
            <a:off x="5486400" y="1572768"/>
            <a:ext cx="15727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15-Minute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5614416" y="2103120"/>
            <a:ext cx="1316736" cy="18288"/>
          </a:xfrm>
          <a:prstGeom prst="rect">
            <a:avLst/>
          </a:prstGeom>
          <a:solidFill>
            <a:srgbClr val="FFFFFF">
              <a:alpha val="34901"/>
            </a:srgbClr>
          </a:solidFill>
          <a:ln cap="flat" cmpd="sng" w="12700">
            <a:solidFill>
              <a:srgbClr val="FFF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7"/>
          <p:cNvSpPr/>
          <p:nvPr/>
        </p:nvSpPr>
        <p:spPr>
          <a:xfrm>
            <a:off x="5532120" y="2157984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Where each sensor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is heading next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7059168" y="2011680"/>
            <a:ext cx="2011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7260336" y="1481328"/>
            <a:ext cx="1572768" cy="1417320"/>
          </a:xfrm>
          <a:prstGeom prst="rect">
            <a:avLst/>
          </a:prstGeom>
          <a:solidFill>
            <a:srgbClr val="15803D"/>
          </a:solidFill>
          <a:ln cap="flat" cmpd="sng" w="127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7"/>
          <p:cNvSpPr/>
          <p:nvPr/>
        </p:nvSpPr>
        <p:spPr>
          <a:xfrm>
            <a:off x="7260336" y="1572768"/>
            <a:ext cx="15727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7388352" y="2103120"/>
            <a:ext cx="1316736" cy="18288"/>
          </a:xfrm>
          <a:prstGeom prst="rect">
            <a:avLst/>
          </a:prstGeom>
          <a:solidFill>
            <a:srgbClr val="FFFFFF">
              <a:alpha val="34901"/>
            </a:srgbClr>
          </a:solidFill>
          <a:ln cap="flat" cmpd="sng" w="12700">
            <a:solidFill>
              <a:srgbClr val="FFF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7"/>
          <p:cNvSpPr/>
          <p:nvPr/>
        </p:nvSpPr>
        <p:spPr>
          <a:xfrm>
            <a:off x="7306056" y="2157984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Alert sent before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the limit is crossed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292608" y="3090672"/>
            <a:ext cx="2011680" cy="14173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7"/>
          <p:cNvSpPr/>
          <p:nvPr/>
        </p:nvSpPr>
        <p:spPr>
          <a:xfrm>
            <a:off x="292608" y="3090672"/>
            <a:ext cx="2011680" cy="5029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7"/>
          <p:cNvSpPr/>
          <p:nvPr/>
        </p:nvSpPr>
        <p:spPr>
          <a:xfrm>
            <a:off x="292608" y="3218688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8 min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347472" y="3822192"/>
            <a:ext cx="19019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History it reads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before predicting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2441448" y="3090672"/>
            <a:ext cx="2011680" cy="14173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7"/>
          <p:cNvSpPr/>
          <p:nvPr/>
        </p:nvSpPr>
        <p:spPr>
          <a:xfrm>
            <a:off x="2441448" y="3090672"/>
            <a:ext cx="2011680" cy="5029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7"/>
          <p:cNvSpPr/>
          <p:nvPr/>
        </p:nvSpPr>
        <p:spPr>
          <a:xfrm>
            <a:off x="2441448" y="3218688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2496312" y="3822192"/>
            <a:ext cx="19019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far ahead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 forecasts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4590288" y="3090672"/>
            <a:ext cx="2011680" cy="14173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7"/>
          <p:cNvSpPr/>
          <p:nvPr/>
        </p:nvSpPr>
        <p:spPr>
          <a:xfrm>
            <a:off x="4590288" y="3090672"/>
            <a:ext cx="2011680" cy="5029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7"/>
          <p:cNvSpPr/>
          <p:nvPr/>
        </p:nvSpPr>
        <p:spPr>
          <a:xfrm>
            <a:off x="4590288" y="3218688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&lt; 2%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4645152" y="3822192"/>
            <a:ext cx="19019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Target error as 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% of sensor range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6739128" y="3090672"/>
            <a:ext cx="2011680" cy="14173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7"/>
          <p:cNvSpPr/>
          <p:nvPr/>
        </p:nvSpPr>
        <p:spPr>
          <a:xfrm>
            <a:off x="6739128" y="3090672"/>
            <a:ext cx="2011680" cy="5029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"/>
          <p:cNvSpPr/>
          <p:nvPr/>
        </p:nvSpPr>
        <p:spPr>
          <a:xfrm>
            <a:off x="6739128" y="3218688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&lt; 50ms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6793992" y="3822192"/>
            <a:ext cx="19019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Time to produce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forecast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7"/>
          <p:cNvSpPr/>
          <p:nvPr/>
        </p:nvSpPr>
        <p:spPr>
          <a:xfrm>
            <a:off x="0" y="4864608"/>
            <a:ext cx="9144000" cy="1463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7"/>
          <p:cNvSpPr/>
          <p:nvPr/>
        </p:nvSpPr>
        <p:spPr>
          <a:xfrm>
            <a:off x="292608" y="48966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DeepGuard  |  ITAI 2372  |  Robert B Thompson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8138160" y="4896612"/>
            <a:ext cx="713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8"/>
          <p:cNvSpPr/>
          <p:nvPr/>
        </p:nvSpPr>
        <p:spPr>
          <a:xfrm>
            <a:off x="0" y="576072"/>
            <a:ext cx="9144000" cy="20117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8"/>
          <p:cNvSpPr/>
          <p:nvPr/>
        </p:nvSpPr>
        <p:spPr>
          <a:xfrm>
            <a:off x="292608" y="73152"/>
            <a:ext cx="8503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 3: The Four Alert Levels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292608" y="685800"/>
            <a:ext cx="8558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When the Sensor Watcher flags something and the Trend Forecaster confirms where it is heading, DeepGuard assigns one of four alert levels and takes the matching action.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292608" y="1188720"/>
            <a:ext cx="777240" cy="329184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8"/>
          <p:cNvSpPr/>
          <p:nvPr/>
        </p:nvSpPr>
        <p:spPr>
          <a:xfrm>
            <a:off x="292608" y="1188720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1097280" y="1188720"/>
            <a:ext cx="1088136" cy="329184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8"/>
          <p:cNvSpPr/>
          <p:nvPr/>
        </p:nvSpPr>
        <p:spPr>
          <a:xfrm>
            <a:off x="1097280" y="1188720"/>
            <a:ext cx="10881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Sensor Reading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8"/>
          <p:cNvSpPr/>
          <p:nvPr/>
        </p:nvSpPr>
        <p:spPr>
          <a:xfrm>
            <a:off x="2212848" y="1188720"/>
            <a:ext cx="1298448" cy="329184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8"/>
          <p:cNvSpPr/>
          <p:nvPr/>
        </p:nvSpPr>
        <p:spPr>
          <a:xfrm>
            <a:off x="2212848" y="1188720"/>
            <a:ext cx="12984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Trend Direction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3538728" y="1188720"/>
            <a:ext cx="2185416" cy="329184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8"/>
          <p:cNvSpPr/>
          <p:nvPr/>
        </p:nvSpPr>
        <p:spPr>
          <a:xfrm>
            <a:off x="3538728" y="1188720"/>
            <a:ext cx="21854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DeepGuard Does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5751576" y="1188720"/>
            <a:ext cx="2999232" cy="329184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8"/>
          <p:cNvSpPr/>
          <p:nvPr/>
        </p:nvSpPr>
        <p:spPr>
          <a:xfrm>
            <a:off x="5751576" y="1188720"/>
            <a:ext cx="29992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the Crew Finds 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292608" y="1554480"/>
            <a:ext cx="777240" cy="731520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8"/>
          <p:cNvSpPr/>
          <p:nvPr/>
        </p:nvSpPr>
        <p:spPr>
          <a:xfrm>
            <a:off x="338328" y="1572768"/>
            <a:ext cx="67665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Watch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1097280" y="1554480"/>
            <a:ext cx="1088136" cy="731520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8"/>
          <p:cNvSpPr/>
          <p:nvPr/>
        </p:nvSpPr>
        <p:spPr>
          <a:xfrm>
            <a:off x="1143000" y="1572768"/>
            <a:ext cx="987552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Slightly unusual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2212848" y="1554480"/>
            <a:ext cx="1298448" cy="731520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8"/>
          <p:cNvSpPr/>
          <p:nvPr/>
        </p:nvSpPr>
        <p:spPr>
          <a:xfrm>
            <a:off x="2258568" y="1572768"/>
            <a:ext cx="11978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Stable or improving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3538728" y="1554480"/>
            <a:ext cx="2185416" cy="731520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8"/>
          <p:cNvSpPr/>
          <p:nvPr/>
        </p:nvSpPr>
        <p:spPr>
          <a:xfrm>
            <a:off x="3584448" y="1572768"/>
            <a:ext cx="20848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Records the event and keeps monitoring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5751576" y="1554480"/>
            <a:ext cx="2999232" cy="731520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8"/>
          <p:cNvSpPr/>
          <p:nvPr/>
        </p:nvSpPr>
        <p:spPr>
          <a:xfrm>
            <a:off x="5797296" y="1572768"/>
            <a:ext cx="289864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Included in the next routine status report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292608" y="2322576"/>
            <a:ext cx="777240" cy="73152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8"/>
          <p:cNvSpPr/>
          <p:nvPr/>
        </p:nvSpPr>
        <p:spPr>
          <a:xfrm>
            <a:off x="338328" y="2340864"/>
            <a:ext cx="67665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Caution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1097280" y="2322576"/>
            <a:ext cx="1088136" cy="73152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8"/>
          <p:cNvSpPr/>
          <p:nvPr/>
        </p:nvSpPr>
        <p:spPr>
          <a:xfrm>
            <a:off x="1143000" y="2340864"/>
            <a:ext cx="987552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Moderately unusual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2212848" y="2322576"/>
            <a:ext cx="1298448" cy="73152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8"/>
          <p:cNvSpPr/>
          <p:nvPr/>
        </p:nvSpPr>
        <p:spPr>
          <a:xfrm>
            <a:off x="2258568" y="2340864"/>
            <a:ext cx="11978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Slowly getting worse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8"/>
          <p:cNvSpPr/>
          <p:nvPr/>
        </p:nvSpPr>
        <p:spPr>
          <a:xfrm>
            <a:off x="3538728" y="2322576"/>
            <a:ext cx="2185416" cy="73152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8"/>
          <p:cNvSpPr/>
          <p:nvPr/>
        </p:nvSpPr>
        <p:spPr>
          <a:xfrm>
            <a:off x="3584448" y="2340864"/>
            <a:ext cx="20848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Adjusts system settings to slow the trend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5751576" y="2322576"/>
            <a:ext cx="2999232" cy="73152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8"/>
          <p:cNvSpPr/>
          <p:nvPr/>
        </p:nvSpPr>
        <p:spPr>
          <a:xfrm>
            <a:off x="5797296" y="2340864"/>
            <a:ext cx="289864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Crew receives a priority alert on their display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292608" y="3090672"/>
            <a:ext cx="777240" cy="73152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8"/>
          <p:cNvSpPr/>
          <p:nvPr/>
        </p:nvSpPr>
        <p:spPr>
          <a:xfrm>
            <a:off x="338328" y="3108960"/>
            <a:ext cx="67665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Warning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1097280" y="3090672"/>
            <a:ext cx="1088136" cy="73152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8"/>
          <p:cNvSpPr/>
          <p:nvPr/>
        </p:nvSpPr>
        <p:spPr>
          <a:xfrm>
            <a:off x="1143000" y="3108960"/>
            <a:ext cx="987552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Significantly unusual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2212848" y="3090672"/>
            <a:ext cx="1298448" cy="73152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8"/>
          <p:cNvSpPr/>
          <p:nvPr/>
        </p:nvSpPr>
        <p:spPr>
          <a:xfrm>
            <a:off x="2258568" y="3108960"/>
            <a:ext cx="11978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Quickly getting worse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3538728" y="3090672"/>
            <a:ext cx="2185416" cy="73152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8"/>
          <p:cNvSpPr/>
          <p:nvPr/>
        </p:nvSpPr>
        <p:spPr>
          <a:xfrm>
            <a:off x="3584448" y="3108960"/>
            <a:ext cx="20848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Runs the pre-approved fix for this type of problem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5751576" y="3090672"/>
            <a:ext cx="2999232" cy="73152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8"/>
          <p:cNvSpPr/>
          <p:nvPr/>
        </p:nvSpPr>
        <p:spPr>
          <a:xfrm>
            <a:off x="5797296" y="3108960"/>
            <a:ext cx="289864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Immediate alert with full details shown to crew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8"/>
          <p:cNvSpPr/>
          <p:nvPr/>
        </p:nvSpPr>
        <p:spPr>
          <a:xfrm>
            <a:off x="292608" y="3858768"/>
            <a:ext cx="777240" cy="7315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8"/>
          <p:cNvSpPr/>
          <p:nvPr/>
        </p:nvSpPr>
        <p:spPr>
          <a:xfrm>
            <a:off x="338328" y="3877056"/>
            <a:ext cx="67665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Emergency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8"/>
          <p:cNvSpPr/>
          <p:nvPr/>
        </p:nvSpPr>
        <p:spPr>
          <a:xfrm>
            <a:off x="1097280" y="3858768"/>
            <a:ext cx="1088136" cy="7315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8"/>
          <p:cNvSpPr/>
          <p:nvPr/>
        </p:nvSpPr>
        <p:spPr>
          <a:xfrm>
            <a:off x="1143000" y="3877056"/>
            <a:ext cx="987552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Severely unusual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2212848" y="3858768"/>
            <a:ext cx="1298448" cy="7315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8"/>
          <p:cNvSpPr/>
          <p:nvPr/>
        </p:nvSpPr>
        <p:spPr>
          <a:xfrm>
            <a:off x="2258568" y="3877056"/>
            <a:ext cx="11978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 level about to be reached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3538728" y="3858768"/>
            <a:ext cx="2185416" cy="7315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8"/>
          <p:cNvSpPr/>
          <p:nvPr/>
        </p:nvSpPr>
        <p:spPr>
          <a:xfrm>
            <a:off x="3584448" y="3877056"/>
            <a:ext cx="20848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Starts the emergency shutdown sequence immediately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5751576" y="3858768"/>
            <a:ext cx="2999232" cy="7315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8"/>
          <p:cNvSpPr/>
          <p:nvPr/>
        </p:nvSpPr>
        <p:spPr>
          <a:xfrm>
            <a:off x="5797296" y="3877056"/>
            <a:ext cx="289864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Emergency alarm sounds + distress beacon is activated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8"/>
          <p:cNvSpPr/>
          <p:nvPr/>
        </p:nvSpPr>
        <p:spPr>
          <a:xfrm>
            <a:off x="0" y="4864608"/>
            <a:ext cx="9144000" cy="1463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8"/>
          <p:cNvSpPr/>
          <p:nvPr/>
        </p:nvSpPr>
        <p:spPr>
          <a:xfrm>
            <a:off x="292608" y="48966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DeepGuard  |  ITAI 2372  |  Robert B Thompson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8138160" y="4896612"/>
            <a:ext cx="713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9"/>
          <p:cNvSpPr/>
          <p:nvPr/>
        </p:nvSpPr>
        <p:spPr>
          <a:xfrm>
            <a:off x="0" y="576072"/>
            <a:ext cx="9144000" cy="20117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9"/>
          <p:cNvSpPr/>
          <p:nvPr/>
        </p:nvSpPr>
        <p:spPr>
          <a:xfrm>
            <a:off x="292608" y="73152"/>
            <a:ext cx="8503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the Data Comes From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292608" y="731520"/>
            <a:ext cx="4251960" cy="12618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9"/>
          <p:cNvSpPr/>
          <p:nvPr/>
        </p:nvSpPr>
        <p:spPr>
          <a:xfrm>
            <a:off x="292608" y="731520"/>
            <a:ext cx="45720" cy="126187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9"/>
          <p:cNvSpPr/>
          <p:nvPr/>
        </p:nvSpPr>
        <p:spPr>
          <a:xfrm>
            <a:off x="420624" y="82296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NASA Station Sensor Logs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420624" y="1078992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data.nasa.gov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9"/>
          <p:cNvSpPr/>
          <p:nvPr/>
        </p:nvSpPr>
        <p:spPr>
          <a:xfrm>
            <a:off x="420624" y="1298448"/>
            <a:ext cx="4005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Years of real sensor readings from the International Space Station. Used to train the Sensor Watcher on what normal and faulty readings look like.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9"/>
          <p:cNvSpPr/>
          <p:nvPr/>
        </p:nvSpPr>
        <p:spPr>
          <a:xfrm>
            <a:off x="4727448" y="731520"/>
            <a:ext cx="4251960" cy="12618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>
            <a:off x="4727448" y="731520"/>
            <a:ext cx="45720" cy="126187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>
            <a:off x="4855464" y="82296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Spacecraft Computer Benchmarks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4855464" y="1078992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NASA SpaceCube-3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9"/>
          <p:cNvSpPr/>
          <p:nvPr/>
        </p:nvSpPr>
        <p:spPr>
          <a:xfrm>
            <a:off x="4855464" y="1298448"/>
            <a:ext cx="4005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Speed and power measurements from NASA's radiation-hardened spacecraft computer. Confirms DeepGuard fits the 15-watt power limit.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292608" y="2121408"/>
            <a:ext cx="4251960" cy="12618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9"/>
          <p:cNvSpPr/>
          <p:nvPr/>
        </p:nvSpPr>
        <p:spPr>
          <a:xfrm>
            <a:off x="292608" y="2121408"/>
            <a:ext cx="45720" cy="126187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9"/>
          <p:cNvSpPr/>
          <p:nvPr/>
        </p:nvSpPr>
        <p:spPr>
          <a:xfrm>
            <a:off x="420624" y="2212848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Mars Rover Sensor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420624" y="2468880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pds.nasa.gov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9"/>
          <p:cNvSpPr/>
          <p:nvPr/>
        </p:nvSpPr>
        <p:spPr>
          <a:xfrm>
            <a:off x="420624" y="2688336"/>
            <a:ext cx="4005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Environmental readings from the Curiosity rover on Mars. Used to test the life support monitoring under realistic Martian temperature swings.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9"/>
          <p:cNvSpPr/>
          <p:nvPr/>
        </p:nvSpPr>
        <p:spPr>
          <a:xfrm>
            <a:off x="4727448" y="2121408"/>
            <a:ext cx="4251960" cy="12618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9"/>
          <p:cNvSpPr/>
          <p:nvPr/>
        </p:nvSpPr>
        <p:spPr>
          <a:xfrm>
            <a:off x="4727448" y="2121408"/>
            <a:ext cx="45720" cy="126187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9"/>
          <p:cNvSpPr/>
          <p:nvPr/>
        </p:nvSpPr>
        <p:spPr>
          <a:xfrm>
            <a:off x="4855464" y="2212848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NASA Fault Classification Guide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9"/>
          <p:cNvSpPr/>
          <p:nvPr/>
        </p:nvSpPr>
        <p:spPr>
          <a:xfrm>
            <a:off x="4855464" y="2468880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NASA/TM-2012-217848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9"/>
          <p:cNvSpPr/>
          <p:nvPr/>
        </p:nvSpPr>
        <p:spPr>
          <a:xfrm>
            <a:off x="4855464" y="2688336"/>
            <a:ext cx="4005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NASA's official handbook for defining and responding to spacecraft faults. Provides the four-level alert framework used in DeepGuard.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292608" y="3511296"/>
            <a:ext cx="4251960" cy="12618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9"/>
          <p:cNvSpPr/>
          <p:nvPr/>
        </p:nvSpPr>
        <p:spPr>
          <a:xfrm>
            <a:off x="292608" y="3511296"/>
            <a:ext cx="45720" cy="126187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9"/>
          <p:cNvSpPr/>
          <p:nvPr/>
        </p:nvSpPr>
        <p:spPr>
          <a:xfrm>
            <a:off x="420624" y="3602736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NASA Lessons Learned Database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420624" y="3858768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llis.nasa.gov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420624" y="4078224"/>
            <a:ext cx="4005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Records of real spacecraft problems and near-misses from past missions. Provides the 50 worst-case test scenarios used in simulation testing.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9"/>
          <p:cNvSpPr/>
          <p:nvPr/>
        </p:nvSpPr>
        <p:spPr>
          <a:xfrm>
            <a:off x="4727448" y="3511296"/>
            <a:ext cx="4251960" cy="12618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9"/>
          <p:cNvSpPr/>
          <p:nvPr/>
        </p:nvSpPr>
        <p:spPr>
          <a:xfrm>
            <a:off x="4727448" y="3511296"/>
            <a:ext cx="45720" cy="126187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9"/>
          <p:cNvSpPr/>
          <p:nvPr/>
        </p:nvSpPr>
        <p:spPr>
          <a:xfrm>
            <a:off x="4855464" y="3602736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Open-Source AI Tools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9"/>
          <p:cNvSpPr/>
          <p:nvPr/>
        </p:nvSpPr>
        <p:spPr>
          <a:xfrm>
            <a:off x="4855464" y="3858768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scikit-learn  |  TensorFlow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9"/>
          <p:cNvSpPr/>
          <p:nvPr/>
        </p:nvSpPr>
        <p:spPr>
          <a:xfrm>
            <a:off x="4855464" y="4078224"/>
            <a:ext cx="4005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Widely used, peer-reviewed AI software libraries. The Sensor Watcher uses scikit-learn. The Trend Forecaster uses TensorFlow.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9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9"/>
          <p:cNvSpPr/>
          <p:nvPr/>
        </p:nvSpPr>
        <p:spPr>
          <a:xfrm>
            <a:off x="0" y="4864608"/>
            <a:ext cx="9144000" cy="1463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9"/>
          <p:cNvSpPr/>
          <p:nvPr/>
        </p:nvSpPr>
        <p:spPr>
          <a:xfrm>
            <a:off x="292608" y="48966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DeepGuard  |  ITAI 2372  |  Robert B Thompson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9"/>
          <p:cNvSpPr/>
          <p:nvPr/>
        </p:nvSpPr>
        <p:spPr>
          <a:xfrm>
            <a:off x="8138160" y="4896612"/>
            <a:ext cx="713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0"/>
          <p:cNvSpPr/>
          <p:nvPr/>
        </p:nvSpPr>
        <p:spPr>
          <a:xfrm>
            <a:off x="0" y="576072"/>
            <a:ext cx="9144000" cy="20117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0"/>
          <p:cNvSpPr/>
          <p:nvPr/>
        </p:nvSpPr>
        <p:spPr>
          <a:xfrm>
            <a:off x="292608" y="73152"/>
            <a:ext cx="8503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 and What It Monitors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292608" y="749808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The Computer DeepGuard Runs 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292608" y="107899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NASA SpaceCube-3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292608" y="1389888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Radiation-hardened, flight-qualified spacecraft processor already scheduled for the Artemis Gateway station.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292608" y="1920240"/>
            <a:ext cx="4251960" cy="44805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0"/>
          <p:cNvSpPr/>
          <p:nvPr/>
        </p:nvSpPr>
        <p:spPr>
          <a:xfrm>
            <a:off x="384048" y="1947672"/>
            <a:ext cx="14173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Computing power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1847088" y="1947672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Enough to run all 3 AI tools at the same 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292608" y="2423160"/>
            <a:ext cx="4251960" cy="4480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0"/>
          <p:cNvSpPr/>
          <p:nvPr/>
        </p:nvSpPr>
        <p:spPr>
          <a:xfrm>
            <a:off x="384048" y="2450592"/>
            <a:ext cx="14173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Power draw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1847088" y="2450592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15 watts  —  less than a laptop computer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292608" y="2926080"/>
            <a:ext cx="4251960" cy="44805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0"/>
          <p:cNvSpPr/>
          <p:nvPr/>
        </p:nvSpPr>
        <p:spPr>
          <a:xfrm>
            <a:off x="384048" y="2953512"/>
            <a:ext cx="14173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Memory needed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1847088" y="2953512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 gigabytes  —  leaves room for other software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292608" y="3429000"/>
            <a:ext cx="4251960" cy="4480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0"/>
          <p:cNvSpPr/>
          <p:nvPr/>
        </p:nvSpPr>
        <p:spPr>
          <a:xfrm>
            <a:off x="384048" y="3456432"/>
            <a:ext cx="14173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Radiation protection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1847088" y="3456432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Hardened against cosmic rays and solar flares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292608" y="3931920"/>
            <a:ext cx="4251960" cy="44805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0"/>
          <p:cNvSpPr/>
          <p:nvPr/>
        </p:nvSpPr>
        <p:spPr>
          <a:xfrm>
            <a:off x="384048" y="3959352"/>
            <a:ext cx="14173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Flight status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1847088" y="3959352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Scheduled for Artemis Gateway (cislunar station)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4892040" y="731520"/>
            <a:ext cx="3950208" cy="3767328"/>
          </a:xfrm>
          <a:prstGeom prst="rect">
            <a:avLst/>
          </a:prstGeom>
          <a:solidFill>
            <a:srgbClr val="0D2B4A"/>
          </a:solidFill>
          <a:ln cap="flat" cmpd="sng" w="12700">
            <a:solidFill>
              <a:srgbClr val="0D2B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0"/>
          <p:cNvSpPr/>
          <p:nvPr/>
        </p:nvSpPr>
        <p:spPr>
          <a:xfrm>
            <a:off x="5029200" y="868680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What DeepGuard Monitors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0"/>
          <p:cNvSpPr/>
          <p:nvPr/>
        </p:nvSpPr>
        <p:spPr>
          <a:xfrm>
            <a:off x="5047488" y="1307592"/>
            <a:ext cx="118872" cy="118872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0"/>
          <p:cNvSpPr/>
          <p:nvPr/>
        </p:nvSpPr>
        <p:spPr>
          <a:xfrm>
            <a:off x="5248656" y="128016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Thermal 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5248656" y="1472184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Keeps the spacecraft at safe temperatures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5047488" y="1737360"/>
            <a:ext cx="118872" cy="118872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0"/>
          <p:cNvSpPr/>
          <p:nvPr/>
        </p:nvSpPr>
        <p:spPr>
          <a:xfrm>
            <a:off x="5248656" y="170992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Distribution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0"/>
          <p:cNvSpPr/>
          <p:nvPr/>
        </p:nvSpPr>
        <p:spPr>
          <a:xfrm>
            <a:off x="5248656" y="1901952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Manages electricity from solar panels and batteries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0"/>
          <p:cNvSpPr/>
          <p:nvPr/>
        </p:nvSpPr>
        <p:spPr>
          <a:xfrm>
            <a:off x="5047488" y="2167128"/>
            <a:ext cx="118872" cy="118872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0"/>
          <p:cNvSpPr/>
          <p:nvPr/>
        </p:nvSpPr>
        <p:spPr>
          <a:xfrm>
            <a:off x="5248656" y="213969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Life 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0"/>
          <p:cNvSpPr/>
          <p:nvPr/>
        </p:nvSpPr>
        <p:spPr>
          <a:xfrm>
            <a:off x="5248656" y="2331720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Keeps the air breathable and cabin pressure safe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0"/>
          <p:cNvSpPr/>
          <p:nvPr/>
        </p:nvSpPr>
        <p:spPr>
          <a:xfrm>
            <a:off x="5047488" y="2596896"/>
            <a:ext cx="118872" cy="118872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0"/>
          <p:cNvSpPr/>
          <p:nvPr/>
        </p:nvSpPr>
        <p:spPr>
          <a:xfrm>
            <a:off x="5248656" y="2569464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Navigation and Steering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5248656" y="2761488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Keeps the spacecraft pointing in the right direction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5047488" y="3026664"/>
            <a:ext cx="118872" cy="118872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0"/>
          <p:cNvSpPr/>
          <p:nvPr/>
        </p:nvSpPr>
        <p:spPr>
          <a:xfrm>
            <a:off x="5248656" y="299923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Propulsion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0"/>
          <p:cNvSpPr/>
          <p:nvPr/>
        </p:nvSpPr>
        <p:spPr>
          <a:xfrm>
            <a:off x="5248656" y="3191256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Manages the engines and fuel supply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0"/>
          <p:cNvSpPr/>
          <p:nvPr/>
        </p:nvSpPr>
        <p:spPr>
          <a:xfrm>
            <a:off x="5047488" y="3456432"/>
            <a:ext cx="118872" cy="118872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0"/>
          <p:cNvSpPr/>
          <p:nvPr/>
        </p:nvSpPr>
        <p:spPr>
          <a:xfrm>
            <a:off x="5248656" y="342900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Communications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5248656" y="3621024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Handles the antenna link back to Earth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0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0"/>
          <p:cNvSpPr/>
          <p:nvPr/>
        </p:nvSpPr>
        <p:spPr>
          <a:xfrm>
            <a:off x="0" y="4864608"/>
            <a:ext cx="9144000" cy="1463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0"/>
          <p:cNvSpPr/>
          <p:nvPr/>
        </p:nvSpPr>
        <p:spPr>
          <a:xfrm>
            <a:off x="292608" y="48966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DeepGuard  |  ITAI 2372  |  Robert B Thompson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0"/>
          <p:cNvSpPr/>
          <p:nvPr/>
        </p:nvSpPr>
        <p:spPr>
          <a:xfrm>
            <a:off x="8138160" y="4896612"/>
            <a:ext cx="713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0" y="576072"/>
            <a:ext cx="9144000" cy="20117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1"/>
          <p:cNvSpPr/>
          <p:nvPr/>
        </p:nvSpPr>
        <p:spPr>
          <a:xfrm>
            <a:off x="292608" y="73152"/>
            <a:ext cx="8503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Plan: Four Levels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1"/>
          <p:cNvSpPr/>
          <p:nvPr/>
        </p:nvSpPr>
        <p:spPr>
          <a:xfrm>
            <a:off x="292608" y="713232"/>
            <a:ext cx="8558784" cy="8961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292608" y="713232"/>
            <a:ext cx="493776" cy="89611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1"/>
          <p:cNvSpPr/>
          <p:nvPr/>
        </p:nvSpPr>
        <p:spPr>
          <a:xfrm>
            <a:off x="292608" y="713232"/>
            <a:ext cx="493776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1"/>
          <p:cNvSpPr/>
          <p:nvPr/>
        </p:nvSpPr>
        <p:spPr>
          <a:xfrm>
            <a:off x="877824" y="7772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Level 1: Test Each Tool Separately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877824" y="1051560"/>
            <a:ext cx="5120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AI tool is checked on its own first. 500 real fault readings, 200 scripted fault situations, and missing-sensor tests are run.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1"/>
          <p:cNvSpPr/>
          <p:nvPr/>
        </p:nvSpPr>
        <p:spPr>
          <a:xfrm>
            <a:off x="5943600" y="841248"/>
            <a:ext cx="2788920" cy="585216"/>
          </a:xfrm>
          <a:prstGeom prst="rect">
            <a:avLst/>
          </a:prstGeom>
          <a:solidFill>
            <a:srgbClr val="E4F4F5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1"/>
          <p:cNvSpPr/>
          <p:nvPr/>
        </p:nvSpPr>
        <p:spPr>
          <a:xfrm>
            <a:off x="5961888" y="841248"/>
            <a:ext cx="275234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Spots 9 out of 10 real problems. Fewer than 1 in 10 false alarms.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1"/>
          <p:cNvSpPr/>
          <p:nvPr/>
        </p:nvSpPr>
        <p:spPr>
          <a:xfrm>
            <a:off x="292608" y="1655064"/>
            <a:ext cx="8558784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1"/>
          <p:cNvSpPr/>
          <p:nvPr/>
        </p:nvSpPr>
        <p:spPr>
          <a:xfrm>
            <a:off x="292608" y="1655064"/>
            <a:ext cx="493776" cy="89611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1"/>
          <p:cNvSpPr/>
          <p:nvPr/>
        </p:nvSpPr>
        <p:spPr>
          <a:xfrm>
            <a:off x="292608" y="1655064"/>
            <a:ext cx="493776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1"/>
          <p:cNvSpPr/>
          <p:nvPr/>
        </p:nvSpPr>
        <p:spPr>
          <a:xfrm>
            <a:off x="877824" y="171907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Level 2: Test All Three Tools Together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1"/>
          <p:cNvSpPr/>
          <p:nvPr/>
        </p:nvSpPr>
        <p:spPr>
          <a:xfrm>
            <a:off x="877824" y="1993392"/>
            <a:ext cx="5120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three tools run as one system. Response time, simultaneous faults, sensor failures, and 72-hour memory tests are run.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1"/>
          <p:cNvSpPr/>
          <p:nvPr/>
        </p:nvSpPr>
        <p:spPr>
          <a:xfrm>
            <a:off x="5943600" y="1783080"/>
            <a:ext cx="2788920" cy="585216"/>
          </a:xfrm>
          <a:prstGeom prst="rect">
            <a:avLst/>
          </a:prstGeom>
          <a:solidFill>
            <a:srgbClr val="E4F4F5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1"/>
          <p:cNvSpPr/>
          <p:nvPr/>
        </p:nvSpPr>
        <p:spPr>
          <a:xfrm>
            <a:off x="5961888" y="1783080"/>
            <a:ext cx="275234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Every single detected problem gets a response within 2 seconds.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1"/>
          <p:cNvSpPr/>
          <p:nvPr/>
        </p:nvSpPr>
        <p:spPr>
          <a:xfrm>
            <a:off x="292608" y="2596896"/>
            <a:ext cx="8558784" cy="8961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1"/>
          <p:cNvSpPr/>
          <p:nvPr/>
        </p:nvSpPr>
        <p:spPr>
          <a:xfrm>
            <a:off x="292608" y="2596896"/>
            <a:ext cx="493776" cy="89611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1"/>
          <p:cNvSpPr/>
          <p:nvPr/>
        </p:nvSpPr>
        <p:spPr>
          <a:xfrm>
            <a:off x="292608" y="2596896"/>
            <a:ext cx="493776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/>
          <p:nvPr/>
        </p:nvSpPr>
        <p:spPr>
          <a:xfrm>
            <a:off x="877824" y="266090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Level 3: Worst-Case Scenario Simulation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1"/>
          <p:cNvSpPr/>
          <p:nvPr/>
        </p:nvSpPr>
        <p:spPr>
          <a:xfrm>
            <a:off x="877824" y="2935224"/>
            <a:ext cx="5120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50 fault scenarios from NASA's real and near-miss records are run 10 times each with randomized noise added to the sensor data.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1"/>
          <p:cNvSpPr/>
          <p:nvPr/>
        </p:nvSpPr>
        <p:spPr>
          <a:xfrm>
            <a:off x="5943600" y="2724912"/>
            <a:ext cx="2788920" cy="585216"/>
          </a:xfrm>
          <a:prstGeom prst="rect">
            <a:avLst/>
          </a:prstGeom>
          <a:solidFill>
            <a:srgbClr val="E4F4F5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1"/>
          <p:cNvSpPr/>
          <p:nvPr/>
        </p:nvSpPr>
        <p:spPr>
          <a:xfrm>
            <a:off x="5961888" y="2724912"/>
            <a:ext cx="275234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Zero missed Emergency-level faults across all 500 simulation runs.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1"/>
          <p:cNvSpPr/>
          <p:nvPr/>
        </p:nvSpPr>
        <p:spPr>
          <a:xfrm>
            <a:off x="292608" y="3538728"/>
            <a:ext cx="8558784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1"/>
          <p:cNvSpPr/>
          <p:nvPr/>
        </p:nvSpPr>
        <p:spPr>
          <a:xfrm>
            <a:off x="292608" y="3538728"/>
            <a:ext cx="493776" cy="89611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1"/>
          <p:cNvSpPr/>
          <p:nvPr/>
        </p:nvSpPr>
        <p:spPr>
          <a:xfrm>
            <a:off x="292608" y="3538728"/>
            <a:ext cx="493776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1"/>
          <p:cNvSpPr/>
          <p:nvPr/>
        </p:nvSpPr>
        <p:spPr>
          <a:xfrm>
            <a:off x="877824" y="360273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Level 4: Human Expert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1"/>
          <p:cNvSpPr/>
          <p:nvPr/>
        </p:nvSpPr>
        <p:spPr>
          <a:xfrm>
            <a:off x="877824" y="3877056"/>
            <a:ext cx="5120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Five aerospace engineering students and a faculty advisor review 20 decision logs and judge whether each automated response was correct.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1"/>
          <p:cNvSpPr/>
          <p:nvPr/>
        </p:nvSpPr>
        <p:spPr>
          <a:xfrm>
            <a:off x="5943600" y="3666744"/>
            <a:ext cx="2788920" cy="585216"/>
          </a:xfrm>
          <a:prstGeom prst="rect">
            <a:avLst/>
          </a:prstGeom>
          <a:solidFill>
            <a:srgbClr val="E4F4F5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1"/>
          <p:cNvSpPr/>
          <p:nvPr/>
        </p:nvSpPr>
        <p:spPr>
          <a:xfrm>
            <a:off x="5961888" y="3666744"/>
            <a:ext cx="275234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Experts agree with 9 out of every 10 decisions DeepGuard made.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1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1"/>
          <p:cNvSpPr/>
          <p:nvPr/>
        </p:nvSpPr>
        <p:spPr>
          <a:xfrm>
            <a:off x="0" y="4864608"/>
            <a:ext cx="9144000" cy="1463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1"/>
          <p:cNvSpPr/>
          <p:nvPr/>
        </p:nvSpPr>
        <p:spPr>
          <a:xfrm>
            <a:off x="292608" y="48966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DeepGuard  |  ITAI 2372  |  Robert B Thompson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1"/>
          <p:cNvSpPr/>
          <p:nvPr/>
        </p:nvSpPr>
        <p:spPr>
          <a:xfrm>
            <a:off x="8138160" y="4896612"/>
            <a:ext cx="713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2"/>
          <p:cNvSpPr/>
          <p:nvPr/>
        </p:nvSpPr>
        <p:spPr>
          <a:xfrm>
            <a:off x="0" y="576072"/>
            <a:ext cx="9144000" cy="20117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2"/>
          <p:cNvSpPr/>
          <p:nvPr/>
        </p:nvSpPr>
        <p:spPr>
          <a:xfrm>
            <a:off x="292608" y="73152"/>
            <a:ext cx="8503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Success Is Measured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2"/>
          <p:cNvSpPr/>
          <p:nvPr/>
        </p:nvSpPr>
        <p:spPr>
          <a:xfrm>
            <a:off x="292608" y="713232"/>
            <a:ext cx="2788920" cy="18745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2"/>
          <p:cNvSpPr/>
          <p:nvPr/>
        </p:nvSpPr>
        <p:spPr>
          <a:xfrm>
            <a:off x="292608" y="713232"/>
            <a:ext cx="2788920" cy="50292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2"/>
          <p:cNvSpPr/>
          <p:nvPr/>
        </p:nvSpPr>
        <p:spPr>
          <a:xfrm>
            <a:off x="292608" y="850392"/>
            <a:ext cx="2788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&gt; 87%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2"/>
          <p:cNvSpPr/>
          <p:nvPr/>
        </p:nvSpPr>
        <p:spPr>
          <a:xfrm>
            <a:off x="475488" y="1609344"/>
            <a:ext cx="2423160" cy="18288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2"/>
          <p:cNvSpPr/>
          <p:nvPr/>
        </p:nvSpPr>
        <p:spPr>
          <a:xfrm>
            <a:off x="384048" y="1673352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Problems Correctly Identified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/>
          <p:nvPr/>
        </p:nvSpPr>
        <p:spPr>
          <a:xfrm>
            <a:off x="384048" y="201168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 of every 100 real faults, DeepGuard must catch at least 87.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2"/>
          <p:cNvSpPr/>
          <p:nvPr/>
        </p:nvSpPr>
        <p:spPr>
          <a:xfrm>
            <a:off x="3136392" y="713232"/>
            <a:ext cx="2788920" cy="18745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2"/>
          <p:cNvSpPr/>
          <p:nvPr/>
        </p:nvSpPr>
        <p:spPr>
          <a:xfrm>
            <a:off x="3136392" y="713232"/>
            <a:ext cx="2788920" cy="50292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2"/>
          <p:cNvSpPr/>
          <p:nvPr/>
        </p:nvSpPr>
        <p:spPr>
          <a:xfrm>
            <a:off x="3136392" y="850392"/>
            <a:ext cx="2788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&lt; 5%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2"/>
          <p:cNvSpPr/>
          <p:nvPr/>
        </p:nvSpPr>
        <p:spPr>
          <a:xfrm>
            <a:off x="3319272" y="1609344"/>
            <a:ext cx="2423160" cy="18288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2"/>
          <p:cNvSpPr/>
          <p:nvPr/>
        </p:nvSpPr>
        <p:spPr>
          <a:xfrm>
            <a:off x="3227832" y="1673352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False Alarm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2"/>
          <p:cNvSpPr/>
          <p:nvPr/>
        </p:nvSpPr>
        <p:spPr>
          <a:xfrm>
            <a:off x="3227832" y="201168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 of every 100 normal events, no more than 5 are wrongly flagged.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2"/>
          <p:cNvSpPr/>
          <p:nvPr/>
        </p:nvSpPr>
        <p:spPr>
          <a:xfrm>
            <a:off x="5980176" y="713232"/>
            <a:ext cx="2788920" cy="18745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2"/>
          <p:cNvSpPr/>
          <p:nvPr/>
        </p:nvSpPr>
        <p:spPr>
          <a:xfrm>
            <a:off x="5980176" y="713232"/>
            <a:ext cx="2788920" cy="50292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2"/>
          <p:cNvSpPr/>
          <p:nvPr/>
        </p:nvSpPr>
        <p:spPr>
          <a:xfrm>
            <a:off x="5980176" y="850392"/>
            <a:ext cx="2788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&lt; 2 sec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2"/>
          <p:cNvSpPr/>
          <p:nvPr/>
        </p:nvSpPr>
        <p:spPr>
          <a:xfrm>
            <a:off x="6163056" y="1609344"/>
            <a:ext cx="2423160" cy="18288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2"/>
          <p:cNvSpPr/>
          <p:nvPr/>
        </p:nvSpPr>
        <p:spPr>
          <a:xfrm>
            <a:off x="6071616" y="1673352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Emergency Response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2"/>
          <p:cNvSpPr/>
          <p:nvPr/>
        </p:nvSpPr>
        <p:spPr>
          <a:xfrm>
            <a:off x="6071616" y="201168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From spotting a serious fault to starting the fix: under 2 seconds, every time.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2"/>
          <p:cNvSpPr/>
          <p:nvPr/>
        </p:nvSpPr>
        <p:spPr>
          <a:xfrm>
            <a:off x="292608" y="2615184"/>
            <a:ext cx="2788920" cy="18745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2"/>
          <p:cNvSpPr/>
          <p:nvPr/>
        </p:nvSpPr>
        <p:spPr>
          <a:xfrm>
            <a:off x="292608" y="2615184"/>
            <a:ext cx="2788920" cy="50292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2"/>
          <p:cNvSpPr/>
          <p:nvPr/>
        </p:nvSpPr>
        <p:spPr>
          <a:xfrm>
            <a:off x="292608" y="2752344"/>
            <a:ext cx="2788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&lt; 2%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2"/>
          <p:cNvSpPr/>
          <p:nvPr/>
        </p:nvSpPr>
        <p:spPr>
          <a:xfrm>
            <a:off x="475488" y="3511296"/>
            <a:ext cx="2423160" cy="18288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2"/>
          <p:cNvSpPr/>
          <p:nvPr/>
        </p:nvSpPr>
        <p:spPr>
          <a:xfrm>
            <a:off x="384048" y="3575304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Forecast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2"/>
          <p:cNvSpPr/>
          <p:nvPr/>
        </p:nvSpPr>
        <p:spPr>
          <a:xfrm>
            <a:off x="384048" y="3913632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15-minute predictions stay within 2% of each sensor's full reading range.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2"/>
          <p:cNvSpPr/>
          <p:nvPr/>
        </p:nvSpPr>
        <p:spPr>
          <a:xfrm>
            <a:off x="3136392" y="2615184"/>
            <a:ext cx="2788920" cy="18745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2"/>
          <p:cNvSpPr/>
          <p:nvPr/>
        </p:nvSpPr>
        <p:spPr>
          <a:xfrm>
            <a:off x="3136392" y="2615184"/>
            <a:ext cx="2788920" cy="50292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2"/>
          <p:cNvSpPr/>
          <p:nvPr/>
        </p:nvSpPr>
        <p:spPr>
          <a:xfrm>
            <a:off x="3136392" y="2752344"/>
            <a:ext cx="2788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&gt; 90%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2"/>
          <p:cNvSpPr/>
          <p:nvPr/>
        </p:nvSpPr>
        <p:spPr>
          <a:xfrm>
            <a:off x="3319272" y="3511296"/>
            <a:ext cx="2423160" cy="18288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2"/>
          <p:cNvSpPr/>
          <p:nvPr/>
        </p:nvSpPr>
        <p:spPr>
          <a:xfrm>
            <a:off x="3227832" y="3575304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Human Expert Agreement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2"/>
          <p:cNvSpPr/>
          <p:nvPr/>
        </p:nvSpPr>
        <p:spPr>
          <a:xfrm>
            <a:off x="3227832" y="3913632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 least 9 out of every 10 automated decisions are confirmed correct by aerospace experts.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2"/>
          <p:cNvSpPr/>
          <p:nvPr/>
        </p:nvSpPr>
        <p:spPr>
          <a:xfrm>
            <a:off x="5980176" y="2615184"/>
            <a:ext cx="2788920" cy="18745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2"/>
          <p:cNvSpPr/>
          <p:nvPr/>
        </p:nvSpPr>
        <p:spPr>
          <a:xfrm>
            <a:off x="5980176" y="2615184"/>
            <a:ext cx="2788920" cy="50292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2"/>
          <p:cNvSpPr/>
          <p:nvPr/>
        </p:nvSpPr>
        <p:spPr>
          <a:xfrm>
            <a:off x="5980176" y="2752344"/>
            <a:ext cx="2788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2"/>
          <p:cNvSpPr/>
          <p:nvPr/>
        </p:nvSpPr>
        <p:spPr>
          <a:xfrm>
            <a:off x="6163056" y="3511296"/>
            <a:ext cx="2423160" cy="18288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2"/>
          <p:cNvSpPr/>
          <p:nvPr/>
        </p:nvSpPr>
        <p:spPr>
          <a:xfrm>
            <a:off x="6071616" y="3575304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Missed Emergency Faults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2"/>
          <p:cNvSpPr/>
          <p:nvPr/>
        </p:nvSpPr>
        <p:spPr>
          <a:xfrm>
            <a:off x="6071616" y="3913632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single Emergency-level situation is caught and acted on across all 500 test runs.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2"/>
          <p:cNvSpPr/>
          <p:nvPr/>
        </p:nvSpPr>
        <p:spPr>
          <a:xfrm>
            <a:off x="0" y="4864608"/>
            <a:ext cx="9144000" cy="1463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2"/>
          <p:cNvSpPr/>
          <p:nvPr/>
        </p:nvSpPr>
        <p:spPr>
          <a:xfrm>
            <a:off x="292608" y="48966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DeepGuard  |  ITAI 2372  |  Robert B Thompson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2"/>
          <p:cNvSpPr/>
          <p:nvPr/>
        </p:nvSpPr>
        <p:spPr>
          <a:xfrm>
            <a:off x="8138160" y="4896612"/>
            <a:ext cx="713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3"/>
          <p:cNvSpPr/>
          <p:nvPr/>
        </p:nvSpPr>
        <p:spPr>
          <a:xfrm>
            <a:off x="0" y="576072"/>
            <a:ext cx="9144000" cy="20117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3"/>
          <p:cNvSpPr/>
          <p:nvPr/>
        </p:nvSpPr>
        <p:spPr>
          <a:xfrm>
            <a:off x="292608" y="73152"/>
            <a:ext cx="8503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Safety Rules and Known Limitations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3"/>
          <p:cNvSpPr/>
          <p:nvPr/>
        </p:nvSpPr>
        <p:spPr>
          <a:xfrm>
            <a:off x="292608" y="749808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68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Built-In Safety Rules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3"/>
          <p:cNvSpPr/>
          <p:nvPr/>
        </p:nvSpPr>
        <p:spPr>
          <a:xfrm>
            <a:off x="292608" y="1152144"/>
            <a:ext cx="4160520" cy="7132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3"/>
          <p:cNvSpPr/>
          <p:nvPr/>
        </p:nvSpPr>
        <p:spPr>
          <a:xfrm>
            <a:off x="292608" y="1152144"/>
            <a:ext cx="41148" cy="71323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3"/>
          <p:cNvSpPr/>
          <p:nvPr/>
        </p:nvSpPr>
        <p:spPr>
          <a:xfrm>
            <a:off x="402336" y="118872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No Irreversible Actions Alone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3"/>
          <p:cNvSpPr/>
          <p:nvPr/>
        </p:nvSpPr>
        <p:spPr>
          <a:xfrm>
            <a:off x="402336" y="1426464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DeepGuard cannot vent gas, seal a module, or fire thrusters without crew confirmation. It can only adjust settings and switch to backups on its own.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3"/>
          <p:cNvSpPr/>
          <p:nvPr/>
        </p:nvSpPr>
        <p:spPr>
          <a:xfrm>
            <a:off x="292608" y="1920240"/>
            <a:ext cx="4160520" cy="7132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3"/>
          <p:cNvSpPr/>
          <p:nvPr/>
        </p:nvSpPr>
        <p:spPr>
          <a:xfrm>
            <a:off x="292608" y="1920240"/>
            <a:ext cx="41148" cy="71323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3"/>
          <p:cNvSpPr/>
          <p:nvPr/>
        </p:nvSpPr>
        <p:spPr>
          <a:xfrm>
            <a:off x="402336" y="1956816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Complete Audit Record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3"/>
          <p:cNvSpPr/>
          <p:nvPr/>
        </p:nvSpPr>
        <p:spPr>
          <a:xfrm>
            <a:off x="402336" y="21945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decision is logged with the exact sensor readings that caused it, a confidence rating, and the time it happened. Engineers review this after every mission.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3"/>
          <p:cNvSpPr/>
          <p:nvPr/>
        </p:nvSpPr>
        <p:spPr>
          <a:xfrm>
            <a:off x="292608" y="2688336"/>
            <a:ext cx="4160520" cy="7132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3"/>
          <p:cNvSpPr/>
          <p:nvPr/>
        </p:nvSpPr>
        <p:spPr>
          <a:xfrm>
            <a:off x="292608" y="2688336"/>
            <a:ext cx="41148" cy="71323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3"/>
          <p:cNvSpPr/>
          <p:nvPr/>
        </p:nvSpPr>
        <p:spPr>
          <a:xfrm>
            <a:off x="402336" y="272491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Crew Always Wins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3"/>
          <p:cNvSpPr/>
          <p:nvPr/>
        </p:nvSpPr>
        <p:spPr>
          <a:xfrm>
            <a:off x="402336" y="2962656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crew can override any DeepGuard decision instantly. The system advises and assists; it does not command.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3"/>
          <p:cNvSpPr/>
          <p:nvPr/>
        </p:nvSpPr>
        <p:spPr>
          <a:xfrm>
            <a:off x="292608" y="3456432"/>
            <a:ext cx="4160520" cy="7132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3"/>
          <p:cNvSpPr/>
          <p:nvPr/>
        </p:nvSpPr>
        <p:spPr>
          <a:xfrm>
            <a:off x="292608" y="3456432"/>
            <a:ext cx="41148" cy="713232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3"/>
          <p:cNvSpPr/>
          <p:nvPr/>
        </p:nvSpPr>
        <p:spPr>
          <a:xfrm>
            <a:off x="402336" y="3493008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D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B1D3A"/>
                </a:solidFill>
                <a:latin typeface="Calibri"/>
                <a:ea typeface="Calibri"/>
                <a:cs typeface="Calibri"/>
                <a:sym typeface="Calibri"/>
              </a:rPr>
              <a:t>Bias Reduced in 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3"/>
          <p:cNvSpPr/>
          <p:nvPr/>
        </p:nvSpPr>
        <p:spPr>
          <a:xfrm>
            <a:off x="402336" y="3730752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Most available sensor data comes from Earth-orbit missions. Mars-environment data is added to the training set to reduce errors specific to deep space.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3"/>
          <p:cNvSpPr/>
          <p:nvPr/>
        </p:nvSpPr>
        <p:spPr>
          <a:xfrm>
            <a:off x="4773168" y="713232"/>
            <a:ext cx="4078224" cy="3767328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3"/>
          <p:cNvSpPr/>
          <p:nvPr/>
        </p:nvSpPr>
        <p:spPr>
          <a:xfrm>
            <a:off x="4919472" y="850392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Known Limitations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3"/>
          <p:cNvSpPr/>
          <p:nvPr/>
        </p:nvSpPr>
        <p:spPr>
          <a:xfrm>
            <a:off x="4919472" y="1261872"/>
            <a:ext cx="3730752" cy="649224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3"/>
          <p:cNvSpPr/>
          <p:nvPr/>
        </p:nvSpPr>
        <p:spPr>
          <a:xfrm>
            <a:off x="4919472" y="1261872"/>
            <a:ext cx="41148" cy="64922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3"/>
          <p:cNvSpPr/>
          <p:nvPr/>
        </p:nvSpPr>
        <p:spPr>
          <a:xfrm>
            <a:off x="5029200" y="1298448"/>
            <a:ext cx="35112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Concept Only — Not Yet Built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3"/>
          <p:cNvSpPr/>
          <p:nvPr/>
        </p:nvSpPr>
        <p:spPr>
          <a:xfrm>
            <a:off x="5029200" y="1517904"/>
            <a:ext cx="3511296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DeepGuard is a design plan, not a working software system. No code has been written or tested on real hardware.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3"/>
          <p:cNvSpPr/>
          <p:nvPr/>
        </p:nvSpPr>
        <p:spPr>
          <a:xfrm>
            <a:off x="4919472" y="1965960"/>
            <a:ext cx="3730752" cy="649224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3"/>
          <p:cNvSpPr/>
          <p:nvPr/>
        </p:nvSpPr>
        <p:spPr>
          <a:xfrm>
            <a:off x="4919472" y="1965960"/>
            <a:ext cx="41148" cy="64922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3"/>
          <p:cNvSpPr/>
          <p:nvPr/>
        </p:nvSpPr>
        <p:spPr>
          <a:xfrm>
            <a:off x="5029200" y="2002536"/>
            <a:ext cx="35112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Training Data is Earth-Centric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3"/>
          <p:cNvSpPr/>
          <p:nvPr/>
        </p:nvSpPr>
        <p:spPr>
          <a:xfrm>
            <a:off x="5029200" y="2221992"/>
            <a:ext cx="3511296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Most training data comes from Earth-orbit missions. Mars-specific failure modes may not be fully represented yet.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3"/>
          <p:cNvSpPr/>
          <p:nvPr/>
        </p:nvSpPr>
        <p:spPr>
          <a:xfrm>
            <a:off x="4919472" y="2670048"/>
            <a:ext cx="3730752" cy="649224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3"/>
          <p:cNvSpPr/>
          <p:nvPr/>
        </p:nvSpPr>
        <p:spPr>
          <a:xfrm>
            <a:off x="4919472" y="2670048"/>
            <a:ext cx="41148" cy="64922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3"/>
          <p:cNvSpPr/>
          <p:nvPr/>
        </p:nvSpPr>
        <p:spPr>
          <a:xfrm>
            <a:off x="5029200" y="2706624"/>
            <a:ext cx="35112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Only Handles Known Fault Types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3"/>
          <p:cNvSpPr/>
          <p:nvPr/>
        </p:nvSpPr>
        <p:spPr>
          <a:xfrm>
            <a:off x="5029200" y="2926080"/>
            <a:ext cx="3511296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The Action Engine can only respond to fault types included in the pre-approved protocol list. Truly novel failures trigger an alert and wait for crew input.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3"/>
          <p:cNvSpPr/>
          <p:nvPr/>
        </p:nvSpPr>
        <p:spPr>
          <a:xfrm>
            <a:off x="4919472" y="3374136"/>
            <a:ext cx="3730752" cy="649224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3"/>
          <p:cNvSpPr/>
          <p:nvPr/>
        </p:nvSpPr>
        <p:spPr>
          <a:xfrm>
            <a:off x="4919472" y="3374136"/>
            <a:ext cx="41148" cy="64922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3"/>
          <p:cNvSpPr/>
          <p:nvPr/>
        </p:nvSpPr>
        <p:spPr>
          <a:xfrm>
            <a:off x="5029200" y="3410712"/>
            <a:ext cx="35112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Hardware Costs Not Modeled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3"/>
          <p:cNvSpPr/>
          <p:nvPr/>
        </p:nvSpPr>
        <p:spPr>
          <a:xfrm>
            <a:off x="5029200" y="3630168"/>
            <a:ext cx="3511296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This proposal does not include a cost estimate for building, testing, or launching the physical hardware.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3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3"/>
          <p:cNvSpPr/>
          <p:nvPr/>
        </p:nvSpPr>
        <p:spPr>
          <a:xfrm>
            <a:off x="0" y="4864608"/>
            <a:ext cx="9144000" cy="1463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3"/>
          <p:cNvSpPr/>
          <p:nvPr/>
        </p:nvSpPr>
        <p:spPr>
          <a:xfrm>
            <a:off x="292608" y="48966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DeepGuard  |  ITAI 2372  |  Robert B Thompson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3"/>
          <p:cNvSpPr/>
          <p:nvPr/>
        </p:nvSpPr>
        <p:spPr>
          <a:xfrm>
            <a:off x="8138160" y="4896612"/>
            <a:ext cx="713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4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4"/>
          <p:cNvSpPr/>
          <p:nvPr/>
        </p:nvSpPr>
        <p:spPr>
          <a:xfrm>
            <a:off x="64008" y="0"/>
            <a:ext cx="9079992" cy="640080"/>
          </a:xfrm>
          <a:prstGeom prst="rect">
            <a:avLst/>
          </a:prstGeom>
          <a:solidFill>
            <a:srgbClr val="0D2B4A"/>
          </a:solidFill>
          <a:ln cap="flat" cmpd="sng" w="12700">
            <a:solidFill>
              <a:srgbClr val="0D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4"/>
          <p:cNvSpPr/>
          <p:nvPr/>
        </p:nvSpPr>
        <p:spPr>
          <a:xfrm>
            <a:off x="201168" y="91440"/>
            <a:ext cx="8229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DeepGuard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4"/>
          <p:cNvSpPr/>
          <p:nvPr/>
        </p:nvSpPr>
        <p:spPr>
          <a:xfrm>
            <a:off x="201168" y="6583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941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7941D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4"/>
          <p:cNvSpPr/>
          <p:nvPr/>
        </p:nvSpPr>
        <p:spPr>
          <a:xfrm>
            <a:off x="201168" y="1115568"/>
            <a:ext cx="128016" cy="128016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4"/>
          <p:cNvSpPr/>
          <p:nvPr/>
        </p:nvSpPr>
        <p:spPr>
          <a:xfrm>
            <a:off x="420624" y="108813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core problem is distance.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4"/>
          <p:cNvSpPr/>
          <p:nvPr/>
        </p:nvSpPr>
        <p:spPr>
          <a:xfrm>
            <a:off x="2450592" y="1088136"/>
            <a:ext cx="6263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48-minute round-trip signal delay means a spacecraft must be able to diagnose and fix problems on its own.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4"/>
          <p:cNvSpPr/>
          <p:nvPr/>
        </p:nvSpPr>
        <p:spPr>
          <a:xfrm>
            <a:off x="420624" y="1344168"/>
            <a:ext cx="8293608" cy="914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4"/>
          <p:cNvSpPr/>
          <p:nvPr/>
        </p:nvSpPr>
        <p:spPr>
          <a:xfrm>
            <a:off x="201168" y="1645920"/>
            <a:ext cx="128016" cy="128016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4"/>
          <p:cNvSpPr/>
          <p:nvPr/>
        </p:nvSpPr>
        <p:spPr>
          <a:xfrm>
            <a:off x="420624" y="16184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tools, one pipeline.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4"/>
          <p:cNvSpPr/>
          <p:nvPr/>
        </p:nvSpPr>
        <p:spPr>
          <a:xfrm>
            <a:off x="2450592" y="1618488"/>
            <a:ext cx="6263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Sensor Watcher spots unusual readings. The Trend Forecaster predicts where they are heading. The Action Engine picks the right response.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4"/>
          <p:cNvSpPr/>
          <p:nvPr/>
        </p:nvSpPr>
        <p:spPr>
          <a:xfrm>
            <a:off x="420624" y="1874520"/>
            <a:ext cx="8293608" cy="914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4"/>
          <p:cNvSpPr/>
          <p:nvPr/>
        </p:nvSpPr>
        <p:spPr>
          <a:xfrm>
            <a:off x="201168" y="2176272"/>
            <a:ext cx="128016" cy="128016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4"/>
          <p:cNvSpPr/>
          <p:nvPr/>
        </p:nvSpPr>
        <p:spPr>
          <a:xfrm>
            <a:off x="420624" y="2148840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 acts early.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4"/>
          <p:cNvSpPr/>
          <p:nvPr/>
        </p:nvSpPr>
        <p:spPr>
          <a:xfrm>
            <a:off x="2450592" y="2148840"/>
            <a:ext cx="6263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By predicting 15 minutes ahead, DeepGuard responds before a sensor crosses a danger threshold rather than after.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4"/>
          <p:cNvSpPr/>
          <p:nvPr/>
        </p:nvSpPr>
        <p:spPr>
          <a:xfrm>
            <a:off x="420624" y="2404872"/>
            <a:ext cx="8293608" cy="914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4"/>
          <p:cNvSpPr/>
          <p:nvPr/>
        </p:nvSpPr>
        <p:spPr>
          <a:xfrm>
            <a:off x="201168" y="2706624"/>
            <a:ext cx="128016" cy="128016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4"/>
          <p:cNvSpPr/>
          <p:nvPr/>
        </p:nvSpPr>
        <p:spPr>
          <a:xfrm>
            <a:off x="420624" y="267919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 is always auditable.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4"/>
          <p:cNvSpPr/>
          <p:nvPr/>
        </p:nvSpPr>
        <p:spPr>
          <a:xfrm>
            <a:off x="2450592" y="2679192"/>
            <a:ext cx="6263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automated action is logged with the full context that caused it, so engineers can review the system's reasoning after the mission.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4"/>
          <p:cNvSpPr/>
          <p:nvPr/>
        </p:nvSpPr>
        <p:spPr>
          <a:xfrm>
            <a:off x="420624" y="2935224"/>
            <a:ext cx="8293608" cy="914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4"/>
          <p:cNvSpPr/>
          <p:nvPr/>
        </p:nvSpPr>
        <p:spPr>
          <a:xfrm>
            <a:off x="201168" y="3236976"/>
            <a:ext cx="128016" cy="128016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4"/>
          <p:cNvSpPr/>
          <p:nvPr/>
        </p:nvSpPr>
        <p:spPr>
          <a:xfrm>
            <a:off x="420624" y="3209544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Safety rules are non-negotiable.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4"/>
          <p:cNvSpPr/>
          <p:nvPr/>
        </p:nvSpPr>
        <p:spPr>
          <a:xfrm>
            <a:off x="2450592" y="3209544"/>
            <a:ext cx="6263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 irreversible action without crew confirmation. Human authority is always final.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4"/>
          <p:cNvSpPr/>
          <p:nvPr/>
        </p:nvSpPr>
        <p:spPr>
          <a:xfrm>
            <a:off x="420624" y="3465576"/>
            <a:ext cx="8293608" cy="914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4"/>
          <p:cNvSpPr/>
          <p:nvPr/>
        </p:nvSpPr>
        <p:spPr>
          <a:xfrm>
            <a:off x="201168" y="3767328"/>
            <a:ext cx="128016" cy="128016"/>
          </a:xfrm>
          <a:prstGeom prst="ellipse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4"/>
          <p:cNvSpPr/>
          <p:nvPr/>
        </p:nvSpPr>
        <p:spPr>
          <a:xfrm>
            <a:off x="420624" y="373989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 is grounded in real NASA data.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4"/>
          <p:cNvSpPr/>
          <p:nvPr/>
        </p:nvSpPr>
        <p:spPr>
          <a:xfrm>
            <a:off x="2450592" y="3739896"/>
            <a:ext cx="6263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Training data, test scenarios, hardware specs, and the alert framework all come from real NASA sources.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4"/>
          <p:cNvSpPr/>
          <p:nvPr/>
        </p:nvSpPr>
        <p:spPr>
          <a:xfrm>
            <a:off x="201168" y="459486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Robert B Thompson  |  ITAI 2372  |  December 10,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4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B1D3A"/>
          </a:solidFill>
          <a:ln cap="flat" cmpd="sng" w="12700">
            <a:solidFill>
              <a:srgbClr val="0B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4"/>
          <p:cNvSpPr/>
          <p:nvPr/>
        </p:nvSpPr>
        <p:spPr>
          <a:xfrm>
            <a:off x="0" y="4864608"/>
            <a:ext cx="9144000" cy="14630"/>
          </a:xfrm>
          <a:prstGeom prst="rect">
            <a:avLst/>
          </a:prstGeom>
          <a:solidFill>
            <a:srgbClr val="F7941D"/>
          </a:solidFill>
          <a:ln cap="flat" cmpd="sng" w="12700">
            <a:solidFill>
              <a:srgbClr val="F794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4"/>
          <p:cNvSpPr/>
          <p:nvPr/>
        </p:nvSpPr>
        <p:spPr>
          <a:xfrm>
            <a:off x="292608" y="48966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DeepGuard  |  ITAI 2372  |  Robert B Thompson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4"/>
          <p:cNvSpPr/>
          <p:nvPr/>
        </p:nvSpPr>
        <p:spPr>
          <a:xfrm>
            <a:off x="8138160" y="4896612"/>
            <a:ext cx="713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